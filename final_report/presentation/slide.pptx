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Medium" charset="1" panose="00000600000000000000"/>
      <p:regular r:id="rId16"/>
    </p:embeddedFont>
    <p:embeddedFont>
      <p:font typeface="Public Sans" charset="1" panose="00000000000000000000"/>
      <p:regular r:id="rId17"/>
    </p:embeddedFont>
    <p:embeddedFont>
      <p:font typeface="Barlow SemiCondensed Bold" charset="1" panose="00000806000000000000"/>
      <p:regular r:id="rId18"/>
    </p:embeddedFont>
    <p:embeddedFont>
      <p:font typeface="Barlow SemiCondensed" charset="1" panose="00000506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6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12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2" Target="../media/image6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huy-real-estate-prediction.streamlit.app" TargetMode="External" Type="http://schemas.openxmlformats.org/officeDocument/2006/relationships/hyperlink"/><Relationship Id="rId11" Target="../media/image51.png" Type="http://schemas.openxmlformats.org/officeDocument/2006/relationships/image"/><Relationship Id="rId2" Target="../media/image38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Relationship Id="rId4" Target="../media/image54.png" Type="http://schemas.openxmlformats.org/officeDocument/2006/relationships/image"/><Relationship Id="rId5" Target="../media/image16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269" r="-1861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67932" y="2237888"/>
            <a:ext cx="10421455" cy="5811224"/>
            <a:chOff x="0" y="0"/>
            <a:chExt cx="2120287" cy="11823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0287" cy="1182317"/>
            </a:xfrm>
            <a:custGeom>
              <a:avLst/>
              <a:gdLst/>
              <a:ahLst/>
              <a:cxnLst/>
              <a:rect r="r" b="b" t="t" l="l"/>
              <a:pathLst>
                <a:path h="1182317" w="2120287">
                  <a:moveTo>
                    <a:pt x="34173" y="0"/>
                  </a:moveTo>
                  <a:lnTo>
                    <a:pt x="2086114" y="0"/>
                  </a:lnTo>
                  <a:cubicBezTo>
                    <a:pt x="2104987" y="0"/>
                    <a:pt x="2120287" y="15300"/>
                    <a:pt x="2120287" y="34173"/>
                  </a:cubicBezTo>
                  <a:lnTo>
                    <a:pt x="2120287" y="1148144"/>
                  </a:lnTo>
                  <a:cubicBezTo>
                    <a:pt x="2120287" y="1167017"/>
                    <a:pt x="2104987" y="1182317"/>
                    <a:pt x="2086114" y="1182317"/>
                  </a:cubicBezTo>
                  <a:lnTo>
                    <a:pt x="34173" y="1182317"/>
                  </a:lnTo>
                  <a:cubicBezTo>
                    <a:pt x="15300" y="1182317"/>
                    <a:pt x="0" y="1167017"/>
                    <a:pt x="0" y="1148144"/>
                  </a:cubicBezTo>
                  <a:lnTo>
                    <a:pt x="0" y="34173"/>
                  </a:lnTo>
                  <a:cubicBezTo>
                    <a:pt x="0" y="15300"/>
                    <a:pt x="15300" y="0"/>
                    <a:pt x="34173" y="0"/>
                  </a:cubicBezTo>
                  <a:close/>
                </a:path>
              </a:pathLst>
            </a:custGeom>
            <a:solidFill>
              <a:srgbClr val="4D6563">
                <a:alpha val="9372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120287" cy="123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5753" y="2453704"/>
            <a:ext cx="8558037" cy="549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3"/>
              </a:lnSpc>
            </a:pPr>
            <a:r>
              <a:rPr lang="en-US" sz="6399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 Estate Price </a:t>
            </a:r>
          </a:p>
          <a:p>
            <a:pPr algn="l">
              <a:lnSpc>
                <a:spcPts val="5823"/>
              </a:lnSpc>
            </a:pPr>
            <a:r>
              <a:rPr lang="en-US" sz="6399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Analysis</a:t>
            </a:r>
          </a:p>
          <a:p>
            <a:pPr algn="l">
              <a:lnSpc>
                <a:spcPts val="5823"/>
              </a:lnSpc>
            </a:pPr>
          </a:p>
          <a:p>
            <a:pPr algn="l">
              <a:lnSpc>
                <a:spcPts val="3276"/>
              </a:lnSpc>
            </a:pPr>
            <a:r>
              <a:rPr lang="en-US" sz="36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Members:</a:t>
            </a:r>
          </a:p>
          <a:p>
            <a:pPr algn="l">
              <a:lnSpc>
                <a:spcPts val="2547"/>
              </a:lnSpc>
            </a:pPr>
          </a:p>
          <a:p>
            <a:pPr algn="l" marL="604519" indent="-302260" lvl="1">
              <a:lnSpc>
                <a:spcPts val="2547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Nguyễn Gia Huy (SE201725)</a:t>
            </a:r>
          </a:p>
          <a:p>
            <a:pPr algn="l">
              <a:lnSpc>
                <a:spcPts val="2547"/>
              </a:lnSpc>
            </a:pPr>
          </a:p>
          <a:p>
            <a:pPr algn="l" marL="604519" indent="-302260" lvl="1">
              <a:lnSpc>
                <a:spcPts val="2547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Trần Cảnh Nhật Minh (SE203377)</a:t>
            </a:r>
          </a:p>
          <a:p>
            <a:pPr algn="l">
              <a:lnSpc>
                <a:spcPts val="2547"/>
              </a:lnSpc>
            </a:pPr>
          </a:p>
          <a:p>
            <a:pPr algn="l" marL="604519" indent="-302260" lvl="1">
              <a:lnSpc>
                <a:spcPts val="2547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Nguyễn Xuân Bình (SE204049)</a:t>
            </a:r>
          </a:p>
          <a:p>
            <a:pPr algn="l">
              <a:lnSpc>
                <a:spcPts val="2547"/>
              </a:lnSpc>
            </a:pPr>
          </a:p>
          <a:p>
            <a:pPr algn="l" marL="604519" indent="-302260" lvl="1">
              <a:lnSpc>
                <a:spcPts val="2547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Đặng Thái Nguyên (SE201652)</a:t>
            </a:r>
          </a:p>
          <a:p>
            <a:pPr algn="l" marL="0" indent="0" lvl="0">
              <a:lnSpc>
                <a:spcPts val="2547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0917" y="4017130"/>
            <a:ext cx="2365212" cy="815998"/>
          </a:xfrm>
          <a:custGeom>
            <a:avLst/>
            <a:gdLst/>
            <a:ahLst/>
            <a:cxnLst/>
            <a:rect r="r" b="b" t="t" l="l"/>
            <a:pathLst>
              <a:path h="815998" w="2365212">
                <a:moveTo>
                  <a:pt x="0" y="0"/>
                </a:moveTo>
                <a:lnTo>
                  <a:pt x="2365212" y="0"/>
                </a:lnTo>
                <a:lnTo>
                  <a:pt x="2365212" y="815998"/>
                </a:lnTo>
                <a:lnTo>
                  <a:pt x="0" y="815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4634771" cy="1811774"/>
          </a:xfrm>
          <a:custGeom>
            <a:avLst/>
            <a:gdLst/>
            <a:ahLst/>
            <a:cxnLst/>
            <a:rect r="r" b="b" t="t" l="l"/>
            <a:pathLst>
              <a:path h="1811774" w="4634771">
                <a:moveTo>
                  <a:pt x="0" y="0"/>
                </a:moveTo>
                <a:lnTo>
                  <a:pt x="4634771" y="0"/>
                </a:lnTo>
                <a:lnTo>
                  <a:pt x="4634771" y="1811774"/>
                </a:lnTo>
                <a:lnTo>
                  <a:pt x="0" y="1811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5174410">
            <a:off x="8082003" y="16493"/>
            <a:ext cx="12029994" cy="10254014"/>
          </a:xfrm>
          <a:custGeom>
            <a:avLst/>
            <a:gdLst/>
            <a:ahLst/>
            <a:cxnLst/>
            <a:rect r="r" b="b" t="t" l="l"/>
            <a:pathLst>
              <a:path h="10254014" w="12029994">
                <a:moveTo>
                  <a:pt x="624595" y="10254014"/>
                </a:moveTo>
                <a:lnTo>
                  <a:pt x="12029994" y="9504499"/>
                </a:lnTo>
                <a:lnTo>
                  <a:pt x="11405399" y="0"/>
                </a:lnTo>
                <a:lnTo>
                  <a:pt x="0" y="749515"/>
                </a:lnTo>
                <a:lnTo>
                  <a:pt x="624595" y="10254014"/>
                </a:lnTo>
                <a:close/>
              </a:path>
            </a:pathLst>
          </a:custGeom>
          <a:blipFill>
            <a:blip r:embed="rId6"/>
            <a:stretch>
              <a:fillRect l="-15275" t="-2576" r="-700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87497" y="1535549"/>
            <a:ext cx="328791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Tiêu điểm hôm nay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2492" y="15359"/>
            <a:ext cx="8051020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240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BACKGROUND &amp; PROBLEM CONTEXT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78679" y="1920054"/>
            <a:ext cx="7909321" cy="496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real estate market: A core economic pillar.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Challenge: Determining true property value is difficult due to complex factors (location, legal status, amenities).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solution: Leveraging Data Science to analyze listings and provide objective valuations.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Goal: Enhance market transparency and support effective decision-making.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B8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295293" y="6265677"/>
            <a:ext cx="5921117" cy="4339003"/>
          </a:xfrm>
          <a:custGeom>
            <a:avLst/>
            <a:gdLst/>
            <a:ahLst/>
            <a:cxnLst/>
            <a:rect r="r" b="b" t="t" l="l"/>
            <a:pathLst>
              <a:path h="4339003" w="5921117">
                <a:moveTo>
                  <a:pt x="0" y="0"/>
                </a:moveTo>
                <a:lnTo>
                  <a:pt x="5921117" y="0"/>
                </a:lnTo>
                <a:lnTo>
                  <a:pt x="5921117" y="4339003"/>
                </a:lnTo>
                <a:lnTo>
                  <a:pt x="0" y="4339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74" t="0" r="-6978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13583" y="2944237"/>
            <a:ext cx="11727035" cy="4339003"/>
          </a:xfrm>
          <a:custGeom>
            <a:avLst/>
            <a:gdLst/>
            <a:ahLst/>
            <a:cxnLst/>
            <a:rect r="r" b="b" t="t" l="l"/>
            <a:pathLst>
              <a:path h="4339003" w="11727035">
                <a:moveTo>
                  <a:pt x="0" y="0"/>
                </a:moveTo>
                <a:lnTo>
                  <a:pt x="11727034" y="0"/>
                </a:lnTo>
                <a:lnTo>
                  <a:pt x="11727034" y="4339002"/>
                </a:lnTo>
                <a:lnTo>
                  <a:pt x="0" y="4339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90500" y="-190500"/>
            <a:ext cx="9144000" cy="10668000"/>
            <a:chOff x="0" y="0"/>
            <a:chExt cx="2408296" cy="28096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809679"/>
            </a:xfrm>
            <a:custGeom>
              <a:avLst/>
              <a:gdLst/>
              <a:ahLst/>
              <a:cxnLst/>
              <a:rect r="r" b="b" t="t" l="l"/>
              <a:pathLst>
                <a:path h="280967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408296" cy="282872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562617" y="1228725"/>
            <a:ext cx="4021015" cy="2895600"/>
            <a:chOff x="0" y="0"/>
            <a:chExt cx="3136392" cy="22585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4300" y="125984"/>
              <a:ext cx="28829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2882900">
                  <a:moveTo>
                    <a:pt x="2882900" y="1993900"/>
                  </a:moveTo>
                  <a:lnTo>
                    <a:pt x="0" y="1993900"/>
                  </a:lnTo>
                  <a:lnTo>
                    <a:pt x="0" y="0"/>
                  </a:lnTo>
                  <a:lnTo>
                    <a:pt x="2882900" y="0"/>
                  </a:lnTo>
                  <a:lnTo>
                    <a:pt x="2882900" y="1993900"/>
                  </a:lnTo>
                  <a:close/>
                </a:path>
              </a:pathLst>
            </a:custGeom>
            <a:blipFill>
              <a:blip r:embed="rId3"/>
              <a:stretch>
                <a:fillRect l="0" t="-3496" r="0" b="-3496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-1016"/>
              <a:ext cx="3136392" cy="2258568"/>
            </a:xfrm>
            <a:custGeom>
              <a:avLst/>
              <a:gdLst/>
              <a:ahLst/>
              <a:cxnLst/>
              <a:rect r="r" b="b" t="t" l="l"/>
              <a:pathLst>
                <a:path h="2258568" w="3136392">
                  <a:moveTo>
                    <a:pt x="3136392" y="2258568"/>
                  </a:moveTo>
                  <a:lnTo>
                    <a:pt x="0" y="2258568"/>
                  </a:lnTo>
                  <a:lnTo>
                    <a:pt x="0" y="0"/>
                  </a:lnTo>
                  <a:lnTo>
                    <a:pt x="3136392" y="0"/>
                  </a:lnTo>
                  <a:lnTo>
                    <a:pt x="3136392" y="2258568"/>
                  </a:lnTo>
                  <a:close/>
                </a:path>
              </a:pathLst>
            </a:custGeom>
            <a:blipFill>
              <a:blip r:embed="rId4"/>
              <a:stretch>
                <a:fillRect l="-8" t="0" r="-8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-93774">
            <a:off x="11562617" y="5528917"/>
            <a:ext cx="4021015" cy="2895600"/>
            <a:chOff x="0" y="0"/>
            <a:chExt cx="3136392" cy="2258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4300" y="125984"/>
              <a:ext cx="28829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2882900">
                  <a:moveTo>
                    <a:pt x="2882900" y="1993900"/>
                  </a:moveTo>
                  <a:lnTo>
                    <a:pt x="0" y="1993900"/>
                  </a:lnTo>
                  <a:lnTo>
                    <a:pt x="0" y="0"/>
                  </a:lnTo>
                  <a:lnTo>
                    <a:pt x="2882900" y="0"/>
                  </a:lnTo>
                  <a:lnTo>
                    <a:pt x="2882900" y="1993900"/>
                  </a:lnTo>
                  <a:close/>
                </a:path>
              </a:pathLst>
            </a:custGeom>
            <a:blipFill>
              <a:blip r:embed="rId5"/>
              <a:stretch>
                <a:fillRect l="-12536" t="0" r="-1253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-1016"/>
              <a:ext cx="3136392" cy="2258568"/>
            </a:xfrm>
            <a:custGeom>
              <a:avLst/>
              <a:gdLst/>
              <a:ahLst/>
              <a:cxnLst/>
              <a:rect r="r" b="b" t="t" l="l"/>
              <a:pathLst>
                <a:path h="2258568" w="3136392">
                  <a:moveTo>
                    <a:pt x="3136392" y="2258568"/>
                  </a:moveTo>
                  <a:lnTo>
                    <a:pt x="0" y="2258568"/>
                  </a:lnTo>
                  <a:lnTo>
                    <a:pt x="0" y="0"/>
                  </a:lnTo>
                  <a:lnTo>
                    <a:pt x="3136392" y="0"/>
                  </a:lnTo>
                  <a:lnTo>
                    <a:pt x="3136392" y="2258568"/>
                  </a:lnTo>
                  <a:close/>
                </a:path>
              </a:pathLst>
            </a:custGeom>
            <a:blipFill>
              <a:blip r:embed="rId4"/>
              <a:stretch>
                <a:fillRect l="-8" t="0" r="-8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667500" y="843072"/>
            <a:ext cx="610295" cy="771305"/>
          </a:xfrm>
          <a:custGeom>
            <a:avLst/>
            <a:gdLst/>
            <a:ahLst/>
            <a:cxnLst/>
            <a:rect r="r" b="b" t="t" l="l"/>
            <a:pathLst>
              <a:path h="771305" w="610295">
                <a:moveTo>
                  <a:pt x="0" y="0"/>
                </a:moveTo>
                <a:lnTo>
                  <a:pt x="610295" y="0"/>
                </a:lnTo>
                <a:lnTo>
                  <a:pt x="610295" y="771306"/>
                </a:lnTo>
                <a:lnTo>
                  <a:pt x="0" y="77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091671" y="1081613"/>
            <a:ext cx="1026443" cy="294223"/>
          </a:xfrm>
          <a:custGeom>
            <a:avLst/>
            <a:gdLst/>
            <a:ahLst/>
            <a:cxnLst/>
            <a:rect r="r" b="b" t="t" l="l"/>
            <a:pathLst>
              <a:path h="294223" w="1026443">
                <a:moveTo>
                  <a:pt x="0" y="0"/>
                </a:moveTo>
                <a:lnTo>
                  <a:pt x="1026443" y="0"/>
                </a:lnTo>
                <a:lnTo>
                  <a:pt x="1026443" y="294224"/>
                </a:lnTo>
                <a:lnTo>
                  <a:pt x="0" y="2942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923" t="0" r="-55059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317177" y="956336"/>
            <a:ext cx="4575431" cy="3440378"/>
            <a:chOff x="0" y="0"/>
            <a:chExt cx="6100574" cy="4587170"/>
          </a:xfrm>
        </p:grpSpPr>
        <p:sp>
          <p:nvSpPr>
            <p:cNvPr name="Freeform 16" id="16"/>
            <p:cNvSpPr/>
            <p:nvPr/>
          </p:nvSpPr>
          <p:spPr>
            <a:xfrm flipH="false" flipV="false" rot="5400000">
              <a:off x="-1515725" y="1515725"/>
              <a:ext cx="4587170" cy="1555720"/>
            </a:xfrm>
            <a:custGeom>
              <a:avLst/>
              <a:gdLst/>
              <a:ahLst/>
              <a:cxnLst/>
              <a:rect r="r" b="b" t="t" l="l"/>
              <a:pathLst>
                <a:path h="1555720" w="4587170">
                  <a:moveTo>
                    <a:pt x="0" y="0"/>
                  </a:moveTo>
                  <a:lnTo>
                    <a:pt x="4587170" y="0"/>
                  </a:lnTo>
                  <a:lnTo>
                    <a:pt x="4587170" y="1555720"/>
                  </a:lnTo>
                  <a:lnTo>
                    <a:pt x="0" y="1555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384095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5400000">
              <a:off x="3000748" y="1487344"/>
              <a:ext cx="4587170" cy="1612483"/>
            </a:xfrm>
            <a:custGeom>
              <a:avLst/>
              <a:gdLst/>
              <a:ahLst/>
              <a:cxnLst/>
              <a:rect r="r" b="b" t="t" l="l"/>
              <a:pathLst>
                <a:path h="1612483" w="4587170">
                  <a:moveTo>
                    <a:pt x="0" y="0"/>
                  </a:moveTo>
                  <a:lnTo>
                    <a:pt x="4587170" y="0"/>
                  </a:lnTo>
                  <a:lnTo>
                    <a:pt x="4587170" y="1612483"/>
                  </a:lnTo>
                  <a:lnTo>
                    <a:pt x="0" y="1612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-36705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571500" y="2645410"/>
            <a:ext cx="7620000" cy="640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Research Question: "How can data analysis a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nd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m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hine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learn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in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g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t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ools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be applied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o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interpret influenci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ng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fa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tors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accura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ely predict real estate prices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b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ased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spatial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c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h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aracter</a:t>
            </a: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istics and amenities?"</a:t>
            </a:r>
          </a:p>
          <a:p>
            <a:pPr algn="l">
              <a:lnSpc>
                <a:spcPts val="3639"/>
              </a:lnSpc>
            </a:pP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Objective 1 (Analysis): Explore relationships between prices and physical/spatial attributes.</a:t>
            </a:r>
          </a:p>
          <a:p>
            <a:pPr algn="l">
              <a:lnSpc>
                <a:spcPts val="3639"/>
              </a:lnSpc>
            </a:pP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Objective 2 (Prediction): Build a reliable forecasting model to provide reference prices and aid in negotiation.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421005"/>
            <a:ext cx="6919051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240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RESEARCH QUESTION &amp;</a:t>
            </a: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OBJECTIVES</a:t>
            </a:r>
          </a:p>
        </p:txBody>
      </p: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8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301481" y="2015009"/>
            <a:ext cx="11727035" cy="4339003"/>
          </a:xfrm>
          <a:custGeom>
            <a:avLst/>
            <a:gdLst/>
            <a:ahLst/>
            <a:cxnLst/>
            <a:rect r="r" b="b" t="t" l="l"/>
            <a:pathLst>
              <a:path h="4339003" w="11727035">
                <a:moveTo>
                  <a:pt x="11727035" y="0"/>
                </a:moveTo>
                <a:lnTo>
                  <a:pt x="0" y="0"/>
                </a:lnTo>
                <a:lnTo>
                  <a:pt x="0" y="4339003"/>
                </a:lnTo>
                <a:lnTo>
                  <a:pt x="11727035" y="4339003"/>
                </a:lnTo>
                <a:lnTo>
                  <a:pt x="1172703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0500" y="-190500"/>
            <a:ext cx="9144000" cy="10668000"/>
            <a:chOff x="0" y="0"/>
            <a:chExt cx="2408296" cy="2809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809679"/>
            </a:xfrm>
            <a:custGeom>
              <a:avLst/>
              <a:gdLst/>
              <a:ahLst/>
              <a:cxnLst/>
              <a:rect r="r" b="b" t="t" l="l"/>
              <a:pathLst>
                <a:path h="280967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408296" cy="282872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02650">
            <a:off x="11580068" y="849635"/>
            <a:ext cx="2943054" cy="2939376"/>
          </a:xfrm>
          <a:custGeom>
            <a:avLst/>
            <a:gdLst/>
            <a:ahLst/>
            <a:cxnLst/>
            <a:rect r="r" b="b" t="t" l="l"/>
            <a:pathLst>
              <a:path h="2939376" w="2943054">
                <a:moveTo>
                  <a:pt x="0" y="0"/>
                </a:moveTo>
                <a:lnTo>
                  <a:pt x="2943054" y="0"/>
                </a:lnTo>
                <a:lnTo>
                  <a:pt x="2943054" y="2939375"/>
                </a:lnTo>
                <a:lnTo>
                  <a:pt x="0" y="293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696541" y="2466256"/>
            <a:ext cx="2895600" cy="2892889"/>
            <a:chOff x="0" y="0"/>
            <a:chExt cx="3255264" cy="3252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5264" cy="3252216"/>
            </a:xfrm>
            <a:custGeom>
              <a:avLst/>
              <a:gdLst/>
              <a:ahLst/>
              <a:cxnLst/>
              <a:rect r="r" b="b" t="t" l="l"/>
              <a:pathLst>
                <a:path h="3252216" w="3255264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4"/>
              <a:stretch>
                <a:fillRect l="-15" t="0" r="-1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78981" y="170596"/>
              <a:ext cx="2903337" cy="2874918"/>
            </a:xfrm>
            <a:custGeom>
              <a:avLst/>
              <a:gdLst/>
              <a:ahLst/>
              <a:cxnLst/>
              <a:rect r="r" b="b" t="t" l="l"/>
              <a:pathLst>
                <a:path h="2874918" w="2903337">
                  <a:moveTo>
                    <a:pt x="65410" y="2"/>
                  </a:moveTo>
                  <a:lnTo>
                    <a:pt x="2878279" y="31831"/>
                  </a:lnTo>
                  <a:cubicBezTo>
                    <a:pt x="2892304" y="31989"/>
                    <a:pt x="2903534" y="43509"/>
                    <a:pt x="2903334" y="57535"/>
                  </a:cubicBezTo>
                  <a:lnTo>
                    <a:pt x="2863557" y="2849935"/>
                  </a:lnTo>
                  <a:cubicBezTo>
                    <a:pt x="2863356" y="2863986"/>
                    <a:pt x="2851762" y="2875193"/>
                    <a:pt x="2837712" y="2874913"/>
                  </a:cubicBezTo>
                  <a:lnTo>
                    <a:pt x="24844" y="2819214"/>
                  </a:lnTo>
                  <a:cubicBezTo>
                    <a:pt x="10903" y="2818938"/>
                    <a:pt x="-197" y="2807452"/>
                    <a:pt x="3" y="2793509"/>
                  </a:cubicBezTo>
                  <a:lnTo>
                    <a:pt x="39780" y="24980"/>
                  </a:lnTo>
                  <a:cubicBezTo>
                    <a:pt x="39982" y="11015"/>
                    <a:pt x="51444" y="-156"/>
                    <a:pt x="65410" y="2"/>
                  </a:cubicBezTo>
                  <a:close/>
                </a:path>
              </a:pathLst>
            </a:custGeom>
            <a:blipFill>
              <a:blip r:embed="rId5"/>
              <a:stretch>
                <a:fillRect l="-9599" t="-11466" r="-106220" b="-10587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382679">
            <a:off x="11580217" y="6079886"/>
            <a:ext cx="4232648" cy="3048000"/>
            <a:chOff x="0" y="0"/>
            <a:chExt cx="3136392" cy="2258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14300" y="125984"/>
              <a:ext cx="28829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2882900">
                  <a:moveTo>
                    <a:pt x="2882900" y="1993900"/>
                  </a:moveTo>
                  <a:lnTo>
                    <a:pt x="0" y="1993900"/>
                  </a:lnTo>
                  <a:lnTo>
                    <a:pt x="0" y="0"/>
                  </a:lnTo>
                  <a:lnTo>
                    <a:pt x="2882900" y="0"/>
                  </a:lnTo>
                  <a:lnTo>
                    <a:pt x="2882900" y="1993900"/>
                  </a:lnTo>
                  <a:close/>
                </a:path>
              </a:pathLst>
            </a:custGeom>
            <a:blipFill>
              <a:blip r:embed="rId6"/>
              <a:stretch>
                <a:fillRect l="-5486" t="0" r="-548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-1016"/>
              <a:ext cx="3136392" cy="2258568"/>
            </a:xfrm>
            <a:custGeom>
              <a:avLst/>
              <a:gdLst/>
              <a:ahLst/>
              <a:cxnLst/>
              <a:rect r="r" b="b" t="t" l="l"/>
              <a:pathLst>
                <a:path h="2258568" w="3136392">
                  <a:moveTo>
                    <a:pt x="3136392" y="2258568"/>
                  </a:moveTo>
                  <a:lnTo>
                    <a:pt x="0" y="2258568"/>
                  </a:lnTo>
                  <a:lnTo>
                    <a:pt x="0" y="0"/>
                  </a:lnTo>
                  <a:lnTo>
                    <a:pt x="3136392" y="0"/>
                  </a:lnTo>
                  <a:lnTo>
                    <a:pt x="3136392" y="2258568"/>
                  </a:ln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true" flipV="false" rot="0">
            <a:off x="10409615" y="3760616"/>
            <a:ext cx="2093862" cy="2041867"/>
          </a:xfrm>
          <a:custGeom>
            <a:avLst/>
            <a:gdLst/>
            <a:ahLst/>
            <a:cxnLst/>
            <a:rect r="r" b="b" t="t" l="l"/>
            <a:pathLst>
              <a:path h="2041867" w="2093862">
                <a:moveTo>
                  <a:pt x="2093863" y="0"/>
                </a:moveTo>
                <a:lnTo>
                  <a:pt x="0" y="0"/>
                </a:lnTo>
                <a:lnTo>
                  <a:pt x="0" y="2041868"/>
                </a:lnTo>
                <a:lnTo>
                  <a:pt x="2093863" y="2041868"/>
                </a:lnTo>
                <a:lnTo>
                  <a:pt x="2093863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-333031">
            <a:off x="11430502" y="991333"/>
            <a:ext cx="2895600" cy="2892889"/>
            <a:chOff x="0" y="0"/>
            <a:chExt cx="3255264" cy="3252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55264" cy="3252216"/>
            </a:xfrm>
            <a:custGeom>
              <a:avLst/>
              <a:gdLst/>
              <a:ahLst/>
              <a:cxnLst/>
              <a:rect r="r" b="b" t="t" l="l"/>
              <a:pathLst>
                <a:path h="3252216" w="3255264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4"/>
              <a:stretch>
                <a:fillRect l="-15" t="0" r="-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78981" y="170596"/>
              <a:ext cx="2903337" cy="2874918"/>
            </a:xfrm>
            <a:custGeom>
              <a:avLst/>
              <a:gdLst/>
              <a:ahLst/>
              <a:cxnLst/>
              <a:rect r="r" b="b" t="t" l="l"/>
              <a:pathLst>
                <a:path h="2874918" w="2903337">
                  <a:moveTo>
                    <a:pt x="65410" y="2"/>
                  </a:moveTo>
                  <a:lnTo>
                    <a:pt x="2878279" y="31831"/>
                  </a:lnTo>
                  <a:cubicBezTo>
                    <a:pt x="2892304" y="31989"/>
                    <a:pt x="2903534" y="43509"/>
                    <a:pt x="2903334" y="57535"/>
                  </a:cubicBezTo>
                  <a:lnTo>
                    <a:pt x="2863557" y="2849935"/>
                  </a:lnTo>
                  <a:cubicBezTo>
                    <a:pt x="2863356" y="2863986"/>
                    <a:pt x="2851762" y="2875193"/>
                    <a:pt x="2837712" y="2874913"/>
                  </a:cubicBezTo>
                  <a:lnTo>
                    <a:pt x="24844" y="2819214"/>
                  </a:lnTo>
                  <a:cubicBezTo>
                    <a:pt x="10903" y="2818938"/>
                    <a:pt x="-197" y="2807452"/>
                    <a:pt x="3" y="2793509"/>
                  </a:cubicBezTo>
                  <a:lnTo>
                    <a:pt x="39780" y="24980"/>
                  </a:lnTo>
                  <a:cubicBezTo>
                    <a:pt x="39982" y="11015"/>
                    <a:pt x="51444" y="-156"/>
                    <a:pt x="65410" y="2"/>
                  </a:cubicBezTo>
                  <a:close/>
                </a:path>
              </a:pathLst>
            </a:custGeom>
            <a:blipFill>
              <a:blip r:embed="rId9"/>
              <a:stretch>
                <a:fillRect l="-48312" t="0" r="-49729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10062378">
            <a:off x="12007464" y="5249857"/>
            <a:ext cx="749253" cy="326751"/>
          </a:xfrm>
          <a:custGeom>
            <a:avLst/>
            <a:gdLst/>
            <a:ahLst/>
            <a:cxnLst/>
            <a:rect r="r" b="b" t="t" l="l"/>
            <a:pathLst>
              <a:path h="326751" w="749253">
                <a:moveTo>
                  <a:pt x="0" y="0"/>
                </a:moveTo>
                <a:lnTo>
                  <a:pt x="749253" y="0"/>
                </a:lnTo>
                <a:lnTo>
                  <a:pt x="749253" y="326750"/>
                </a:lnTo>
                <a:lnTo>
                  <a:pt x="0" y="326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58168" y="2271697"/>
            <a:ext cx="8275350" cy="545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Scope: 4 major markets (Ha Noi, Da Nang, Ho Chi Minh City, Binh Duong).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Sources: </a:t>
            </a:r>
          </a:p>
          <a:p>
            <a:pPr algn="l" marL="1295400" indent="-431800" lvl="2">
              <a:lnSpc>
                <a:spcPts val="3900"/>
              </a:lnSpc>
              <a:buFont typeface="Arial"/>
              <a:buChar char="⚬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Listing Data: Web Crawling from batdongsan.com.vn.</a:t>
            </a:r>
          </a:p>
          <a:p>
            <a:pPr algn="l" marL="1295400" indent="-431800" lvl="2">
              <a:lnSpc>
                <a:spcPts val="3900"/>
              </a:lnSpc>
              <a:buFont typeface="Arial"/>
              <a:buChar char="⚬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Spatial Data: OpenStreetMap (OSM) for infrastructure/a</a:t>
            </a: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menities.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- Raw Data Size: 39 variables.</a:t>
            </a: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4 Mai</a:t>
            </a: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n Groups: Listing Metadata, Geographical Location, Property Characteristics, External Amenities.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1147772"/>
            <a:ext cx="612468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240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DATASET</a:t>
            </a: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OVERVIEW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D0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037" y="3999054"/>
            <a:ext cx="4032460" cy="3709863"/>
            <a:chOff x="0" y="0"/>
            <a:chExt cx="1254321" cy="1153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21" cy="1153975"/>
            </a:xfrm>
            <a:custGeom>
              <a:avLst/>
              <a:gdLst/>
              <a:ahLst/>
              <a:cxnLst/>
              <a:rect r="r" b="b" t="t" l="l"/>
              <a:pathLst>
                <a:path h="1153975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153975"/>
                  </a:lnTo>
                  <a:lnTo>
                    <a:pt x="0" y="1153975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4321" cy="11730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Standardizat</a:t>
              </a: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ion: Converted text attributes (price, area) to numerical formats.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5091260" y="4158454"/>
            <a:ext cx="3709863" cy="4027239"/>
          </a:xfrm>
          <a:custGeom>
            <a:avLst/>
            <a:gdLst/>
            <a:ahLst/>
            <a:cxnLst/>
            <a:rect r="r" b="b" t="t" l="l"/>
            <a:pathLst>
              <a:path h="4027239" w="3709863">
                <a:moveTo>
                  <a:pt x="0" y="0"/>
                </a:moveTo>
                <a:lnTo>
                  <a:pt x="3709863" y="0"/>
                </a:lnTo>
                <a:lnTo>
                  <a:pt x="3709863" y="4027239"/>
                </a:lnTo>
                <a:lnTo>
                  <a:pt x="0" y="402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347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718041" y="3999054"/>
            <a:ext cx="4032460" cy="3709863"/>
            <a:chOff x="0" y="0"/>
            <a:chExt cx="1254321" cy="1153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21" cy="1153975"/>
            </a:xfrm>
            <a:custGeom>
              <a:avLst/>
              <a:gdLst/>
              <a:ahLst/>
              <a:cxnLst/>
              <a:rect r="r" b="b" t="t" l="l"/>
              <a:pathLst>
                <a:path h="1153975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153975"/>
                  </a:lnTo>
                  <a:lnTo>
                    <a:pt x="0" y="1153975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54321" cy="11730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Dedu</a:t>
              </a: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plication &amp; Cleaning: Standardized district names and removed duplicate listings.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15045" y="3999054"/>
            <a:ext cx="4032460" cy="3709863"/>
            <a:chOff x="0" y="0"/>
            <a:chExt cx="1254321" cy="1153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4321" cy="1153975"/>
            </a:xfrm>
            <a:custGeom>
              <a:avLst/>
              <a:gdLst/>
              <a:ahLst/>
              <a:cxnLst/>
              <a:rect r="r" b="b" t="t" l="l"/>
              <a:pathLst>
                <a:path h="1153975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153975"/>
                  </a:lnTo>
                  <a:lnTo>
                    <a:pt x="0" y="1153975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54321" cy="11730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Boundary</a:t>
              </a: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Filtering: Kept prices between 500 million and 60 billion VND, and areas from 15m² to 1000m².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true" rot="0">
            <a:off x="-3631" y="6363163"/>
            <a:ext cx="1863726" cy="1842759"/>
          </a:xfrm>
          <a:custGeom>
            <a:avLst/>
            <a:gdLst/>
            <a:ahLst/>
            <a:cxnLst/>
            <a:rect r="r" b="b" t="t" l="l"/>
            <a:pathLst>
              <a:path h="1842759" w="1863726">
                <a:moveTo>
                  <a:pt x="0" y="1842760"/>
                </a:moveTo>
                <a:lnTo>
                  <a:pt x="1863727" y="1842760"/>
                </a:lnTo>
                <a:lnTo>
                  <a:pt x="1863727" y="0"/>
                </a:lnTo>
                <a:lnTo>
                  <a:pt x="0" y="0"/>
                </a:lnTo>
                <a:lnTo>
                  <a:pt x="0" y="18427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188563" y="3757280"/>
            <a:ext cx="549361" cy="523267"/>
          </a:xfrm>
          <a:custGeom>
            <a:avLst/>
            <a:gdLst/>
            <a:ahLst/>
            <a:cxnLst/>
            <a:rect r="r" b="b" t="t" l="l"/>
            <a:pathLst>
              <a:path h="523267" w="549361">
                <a:moveTo>
                  <a:pt x="0" y="0"/>
                </a:moveTo>
                <a:lnTo>
                  <a:pt x="549361" y="0"/>
                </a:lnTo>
                <a:lnTo>
                  <a:pt x="549361" y="523266"/>
                </a:lnTo>
                <a:lnTo>
                  <a:pt x="0" y="523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61364" y="1104900"/>
            <a:ext cx="1295400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4200"/>
              </a:lnSpc>
              <a:buAutoNum type="arabicPeriod" startAt="1"/>
            </a:pPr>
            <a:r>
              <a:rPr lang="en-US" b="true" sz="42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DATA </a:t>
            </a:r>
            <a:r>
              <a:rPr lang="en-US" b="true" sz="42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PREPARATION &amp; SQL EXTRACTION PLAN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524831">
            <a:off x="249716" y="-39922"/>
            <a:ext cx="1357033" cy="3938185"/>
          </a:xfrm>
          <a:custGeom>
            <a:avLst/>
            <a:gdLst/>
            <a:ahLst/>
            <a:cxnLst/>
            <a:rect r="r" b="b" t="t" l="l"/>
            <a:pathLst>
              <a:path h="3938185" w="1357033">
                <a:moveTo>
                  <a:pt x="0" y="0"/>
                </a:moveTo>
                <a:lnTo>
                  <a:pt x="1357033" y="0"/>
                </a:lnTo>
                <a:lnTo>
                  <a:pt x="1357033" y="3938185"/>
                </a:lnTo>
                <a:lnTo>
                  <a:pt x="0" y="3938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384235">
            <a:off x="-557480" y="1182577"/>
            <a:ext cx="1357033" cy="3938185"/>
          </a:xfrm>
          <a:custGeom>
            <a:avLst/>
            <a:gdLst/>
            <a:ahLst/>
            <a:cxnLst/>
            <a:rect r="r" b="b" t="t" l="l"/>
            <a:pathLst>
              <a:path h="3938185" w="1357033">
                <a:moveTo>
                  <a:pt x="0" y="0"/>
                </a:moveTo>
                <a:lnTo>
                  <a:pt x="1357033" y="0"/>
                </a:lnTo>
                <a:lnTo>
                  <a:pt x="1357033" y="3938185"/>
                </a:lnTo>
                <a:lnTo>
                  <a:pt x="0" y="3938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14073149" y="4158454"/>
            <a:ext cx="3709863" cy="4027239"/>
          </a:xfrm>
          <a:custGeom>
            <a:avLst/>
            <a:gdLst/>
            <a:ahLst/>
            <a:cxnLst/>
            <a:rect r="r" b="b" t="t" l="l"/>
            <a:pathLst>
              <a:path h="4027239" w="3709863">
                <a:moveTo>
                  <a:pt x="0" y="0"/>
                </a:moveTo>
                <a:lnTo>
                  <a:pt x="3709863" y="0"/>
                </a:lnTo>
                <a:lnTo>
                  <a:pt x="3709863" y="4027239"/>
                </a:lnTo>
                <a:lnTo>
                  <a:pt x="0" y="40272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0347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767247">
            <a:off x="16275983" y="7701287"/>
            <a:ext cx="1357033" cy="3938185"/>
          </a:xfrm>
          <a:custGeom>
            <a:avLst/>
            <a:gdLst/>
            <a:ahLst/>
            <a:cxnLst/>
            <a:rect r="r" b="b" t="t" l="l"/>
            <a:pathLst>
              <a:path h="3938185" w="1357033">
                <a:moveTo>
                  <a:pt x="0" y="0"/>
                </a:moveTo>
                <a:lnTo>
                  <a:pt x="1357034" y="0"/>
                </a:lnTo>
                <a:lnTo>
                  <a:pt x="1357034" y="3938185"/>
                </a:lnTo>
                <a:lnTo>
                  <a:pt x="0" y="39381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699930" y="3999054"/>
            <a:ext cx="4032460" cy="3709863"/>
            <a:chOff x="0" y="0"/>
            <a:chExt cx="1254321" cy="11539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4321" cy="1153975"/>
            </a:xfrm>
            <a:custGeom>
              <a:avLst/>
              <a:gdLst/>
              <a:ahLst/>
              <a:cxnLst/>
              <a:rect r="r" b="b" t="t" l="l"/>
              <a:pathLst>
                <a:path h="1153975" w="1254321">
                  <a:moveTo>
                    <a:pt x="0" y="0"/>
                  </a:moveTo>
                  <a:lnTo>
                    <a:pt x="1254321" y="0"/>
                  </a:lnTo>
                  <a:lnTo>
                    <a:pt x="1254321" y="1153975"/>
                  </a:lnTo>
                  <a:lnTo>
                    <a:pt x="0" y="1153975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254321" cy="11730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Feature</a:t>
              </a:r>
              <a:r>
                <a:rPr lang="en-US" sz="3000">
                  <a:solidFill>
                    <a:srgbClr val="000001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Selection: Reduced to the 17 most vital features (e.g., price_total, area, num_floors, num_schools_1km).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E9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6009736" y="3031240"/>
            <a:ext cx="10924644" cy="4042118"/>
          </a:xfrm>
          <a:custGeom>
            <a:avLst/>
            <a:gdLst/>
            <a:ahLst/>
            <a:cxnLst/>
            <a:rect r="r" b="b" t="t" l="l"/>
            <a:pathLst>
              <a:path h="4042118" w="10924644">
                <a:moveTo>
                  <a:pt x="10924643" y="0"/>
                </a:moveTo>
                <a:lnTo>
                  <a:pt x="0" y="0"/>
                </a:lnTo>
                <a:lnTo>
                  <a:pt x="0" y="4042118"/>
                </a:lnTo>
                <a:lnTo>
                  <a:pt x="10924643" y="4042118"/>
                </a:lnTo>
                <a:lnTo>
                  <a:pt x="1092464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174410">
            <a:off x="8082003" y="16493"/>
            <a:ext cx="12029994" cy="10254014"/>
          </a:xfrm>
          <a:custGeom>
            <a:avLst/>
            <a:gdLst/>
            <a:ahLst/>
            <a:cxnLst/>
            <a:rect r="r" b="b" t="t" l="l"/>
            <a:pathLst>
              <a:path h="10254014" w="12029994">
                <a:moveTo>
                  <a:pt x="624595" y="10254014"/>
                </a:moveTo>
                <a:lnTo>
                  <a:pt x="12029994" y="9504499"/>
                </a:lnTo>
                <a:lnTo>
                  <a:pt x="11405399" y="0"/>
                </a:lnTo>
                <a:lnTo>
                  <a:pt x="0" y="749515"/>
                </a:lnTo>
                <a:lnTo>
                  <a:pt x="624595" y="10254014"/>
                </a:lnTo>
                <a:close/>
              </a:path>
            </a:pathLst>
          </a:custGeom>
          <a:blipFill>
            <a:blip r:embed="rId3"/>
            <a:stretch>
              <a:fillRect l="-15275" t="-2576" r="-700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403998" y="2465104"/>
            <a:ext cx="5600004" cy="8260999"/>
          </a:xfrm>
          <a:custGeom>
            <a:avLst/>
            <a:gdLst/>
            <a:ahLst/>
            <a:cxnLst/>
            <a:rect r="r" b="b" t="t" l="l"/>
            <a:pathLst>
              <a:path h="8260999" w="5600004">
                <a:moveTo>
                  <a:pt x="0" y="0"/>
                </a:moveTo>
                <a:lnTo>
                  <a:pt x="5600005" y="0"/>
                </a:lnTo>
                <a:lnTo>
                  <a:pt x="5600005" y="8261000"/>
                </a:lnTo>
                <a:lnTo>
                  <a:pt x="0" y="826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748" r="-12073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201142" y="3084752"/>
            <a:ext cx="8510384" cy="5813104"/>
            <a:chOff x="0" y="0"/>
            <a:chExt cx="1836326" cy="1254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6326" cy="1254321"/>
            </a:xfrm>
            <a:custGeom>
              <a:avLst/>
              <a:gdLst/>
              <a:ahLst/>
              <a:cxnLst/>
              <a:rect r="r" b="b" t="t" l="l"/>
              <a:pathLst>
                <a:path h="1254321" w="1836326">
                  <a:moveTo>
                    <a:pt x="0" y="0"/>
                  </a:moveTo>
                  <a:lnTo>
                    <a:pt x="1836326" y="0"/>
                  </a:lnTo>
                  <a:lnTo>
                    <a:pt x="1836326" y="1254321"/>
                  </a:lnTo>
                  <a:lnTo>
                    <a:pt x="0" y="1254321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36326" cy="1273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0693537">
            <a:off x="6494797" y="2814370"/>
            <a:ext cx="1298017" cy="461807"/>
          </a:xfrm>
          <a:custGeom>
            <a:avLst/>
            <a:gdLst/>
            <a:ahLst/>
            <a:cxnLst/>
            <a:rect r="r" b="b" t="t" l="l"/>
            <a:pathLst>
              <a:path h="461807" w="1298017">
                <a:moveTo>
                  <a:pt x="0" y="0"/>
                </a:moveTo>
                <a:lnTo>
                  <a:pt x="1298018" y="0"/>
                </a:lnTo>
                <a:lnTo>
                  <a:pt x="1298018" y="461807"/>
                </a:lnTo>
                <a:lnTo>
                  <a:pt x="0" y="461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6743" t="0" r="-6009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142" y="3007173"/>
            <a:ext cx="7957161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Framework: OSEMN Workflow  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(Obtain -&gt; Scrub -&gt; Explore -&gt; Model -&gt; iNterpret)</a:t>
            </a:r>
          </a:p>
          <a:p>
            <a:pPr algn="l" marL="647698" indent="-323849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Core Technologies: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Database: SQL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Analysis &amp; Processing: Python (Pandas, Numpy)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Visualization: Matplotlib, Seaborn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Machine Learning: Scikit-learn, CatBoost, XGBoost, LightGBM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Deployment: Streamlit, Folium (Interactive Map)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90699">
            <a:off x="10197383" y="1969815"/>
            <a:ext cx="9025844" cy="8125474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5756121">
            <a:off x="16023470" y="2909557"/>
            <a:ext cx="1444685" cy="271433"/>
          </a:xfrm>
          <a:custGeom>
            <a:avLst/>
            <a:gdLst/>
            <a:ahLst/>
            <a:cxnLst/>
            <a:rect r="r" b="b" t="t" l="l"/>
            <a:pathLst>
              <a:path h="271433" w="1444685">
                <a:moveTo>
                  <a:pt x="0" y="0"/>
                </a:moveTo>
                <a:lnTo>
                  <a:pt x="1444685" y="0"/>
                </a:lnTo>
                <a:lnTo>
                  <a:pt x="1444685" y="271433"/>
                </a:lnTo>
                <a:lnTo>
                  <a:pt x="0" y="271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0913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295370">
            <a:off x="10295918" y="2664273"/>
            <a:ext cx="3429000" cy="762000"/>
            <a:chOff x="0" y="0"/>
            <a:chExt cx="903111" cy="2006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3111" cy="200691"/>
            </a:xfrm>
            <a:custGeom>
              <a:avLst/>
              <a:gdLst/>
              <a:ahLst/>
              <a:cxnLst/>
              <a:rect r="r" b="b" t="t" l="l"/>
              <a:pathLst>
                <a:path h="200691" w="903111">
                  <a:moveTo>
                    <a:pt x="0" y="0"/>
                  </a:moveTo>
                  <a:lnTo>
                    <a:pt x="903111" y="0"/>
                  </a:lnTo>
                  <a:lnTo>
                    <a:pt x="903111" y="200691"/>
                  </a:lnTo>
                  <a:lnTo>
                    <a:pt x="0" y="200691"/>
                  </a:lnTo>
                  <a:close/>
                </a:path>
              </a:pathLst>
            </a:custGeom>
            <a:solidFill>
              <a:srgbClr val="EDCE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03111" cy="248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23"/>
                </a:lnSpc>
              </a:pPr>
              <a:r>
                <a:rPr lang="en-US" sz="2799">
                  <a:solidFill>
                    <a:srgbClr val="000001"/>
                  </a:solidFill>
                  <a:latin typeface="Barlow SemiCondensed"/>
                  <a:ea typeface="Barlow SemiCondensed"/>
                  <a:cs typeface="Barlow SemiCondensed"/>
                  <a:sym typeface="Barlow SemiCondensed"/>
                </a:rPr>
                <a:t>OSEMN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0" y="626581"/>
            <a:ext cx="6686550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240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MET</a:t>
            </a: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HODOLOGY &amp; WORKFLOW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B8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295293" y="6265677"/>
            <a:ext cx="5921117" cy="4339003"/>
          </a:xfrm>
          <a:custGeom>
            <a:avLst/>
            <a:gdLst/>
            <a:ahLst/>
            <a:cxnLst/>
            <a:rect r="r" b="b" t="t" l="l"/>
            <a:pathLst>
              <a:path h="4339003" w="5921117">
                <a:moveTo>
                  <a:pt x="0" y="0"/>
                </a:moveTo>
                <a:lnTo>
                  <a:pt x="5921117" y="0"/>
                </a:lnTo>
                <a:lnTo>
                  <a:pt x="5921117" y="4339003"/>
                </a:lnTo>
                <a:lnTo>
                  <a:pt x="0" y="4339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74" t="0" r="-6978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13583" y="2944237"/>
            <a:ext cx="11727035" cy="4339003"/>
          </a:xfrm>
          <a:custGeom>
            <a:avLst/>
            <a:gdLst/>
            <a:ahLst/>
            <a:cxnLst/>
            <a:rect r="r" b="b" t="t" l="l"/>
            <a:pathLst>
              <a:path h="4339003" w="11727035">
                <a:moveTo>
                  <a:pt x="0" y="0"/>
                </a:moveTo>
                <a:lnTo>
                  <a:pt x="11727034" y="0"/>
                </a:lnTo>
                <a:lnTo>
                  <a:pt x="11727034" y="4339002"/>
                </a:lnTo>
                <a:lnTo>
                  <a:pt x="0" y="4339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90500" y="-190500"/>
            <a:ext cx="9144000" cy="10668000"/>
            <a:chOff x="0" y="0"/>
            <a:chExt cx="2408296" cy="28096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809679"/>
            </a:xfrm>
            <a:custGeom>
              <a:avLst/>
              <a:gdLst/>
              <a:ahLst/>
              <a:cxnLst/>
              <a:rect r="r" b="b" t="t" l="l"/>
              <a:pathLst>
                <a:path h="280967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408296" cy="282872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386841">
            <a:off x="10318351" y="383373"/>
            <a:ext cx="3592173" cy="3645194"/>
          </a:xfrm>
          <a:custGeom>
            <a:avLst/>
            <a:gdLst/>
            <a:ahLst/>
            <a:cxnLst/>
            <a:rect r="r" b="b" t="t" l="l"/>
            <a:pathLst>
              <a:path h="3645194" w="3592173">
                <a:moveTo>
                  <a:pt x="0" y="0"/>
                </a:moveTo>
                <a:lnTo>
                  <a:pt x="3592173" y="0"/>
                </a:lnTo>
                <a:lnTo>
                  <a:pt x="3592173" y="3645194"/>
                </a:lnTo>
                <a:lnTo>
                  <a:pt x="0" y="36451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3013109" y="3923008"/>
            <a:ext cx="5202843" cy="1998832"/>
          </a:xfrm>
          <a:custGeom>
            <a:avLst/>
            <a:gdLst/>
            <a:ahLst/>
            <a:cxnLst/>
            <a:rect r="r" b="b" t="t" l="l"/>
            <a:pathLst>
              <a:path h="1998832" w="5202843">
                <a:moveTo>
                  <a:pt x="0" y="0"/>
                </a:moveTo>
                <a:lnTo>
                  <a:pt x="5202843" y="0"/>
                </a:lnTo>
                <a:lnTo>
                  <a:pt x="5202843" y="1998833"/>
                </a:lnTo>
                <a:lnTo>
                  <a:pt x="0" y="1998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83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32001">
            <a:off x="10979780" y="-516007"/>
            <a:ext cx="6780543" cy="8366365"/>
          </a:xfrm>
          <a:custGeom>
            <a:avLst/>
            <a:gdLst/>
            <a:ahLst/>
            <a:cxnLst/>
            <a:rect r="r" b="b" t="t" l="l"/>
            <a:pathLst>
              <a:path h="8366365" w="6780543">
                <a:moveTo>
                  <a:pt x="0" y="0"/>
                </a:moveTo>
                <a:lnTo>
                  <a:pt x="6780542" y="0"/>
                </a:lnTo>
                <a:lnTo>
                  <a:pt x="6780542" y="8366365"/>
                </a:lnTo>
                <a:lnTo>
                  <a:pt x="0" y="83663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3476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25089">
            <a:off x="13488614" y="3824234"/>
            <a:ext cx="3491674" cy="3487309"/>
          </a:xfrm>
          <a:custGeom>
            <a:avLst/>
            <a:gdLst/>
            <a:ahLst/>
            <a:cxnLst/>
            <a:rect r="r" b="b" t="t" l="l"/>
            <a:pathLst>
              <a:path h="3487309" w="3491674">
                <a:moveTo>
                  <a:pt x="0" y="0"/>
                </a:moveTo>
                <a:lnTo>
                  <a:pt x="3491673" y="0"/>
                </a:lnTo>
                <a:lnTo>
                  <a:pt x="3491673" y="3487309"/>
                </a:lnTo>
                <a:lnTo>
                  <a:pt x="0" y="3487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-428855">
            <a:off x="10555386" y="46600"/>
            <a:ext cx="3604627" cy="3601252"/>
            <a:chOff x="0" y="0"/>
            <a:chExt cx="3255264" cy="3252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55264" cy="3252216"/>
            </a:xfrm>
            <a:custGeom>
              <a:avLst/>
              <a:gdLst/>
              <a:ahLst/>
              <a:cxnLst/>
              <a:rect r="r" b="b" t="t" l="l"/>
              <a:pathLst>
                <a:path h="3252216" w="3255264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8"/>
              <a:stretch>
                <a:fillRect l="-15" t="0" r="-1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78981" y="170596"/>
              <a:ext cx="2903337" cy="2874918"/>
            </a:xfrm>
            <a:custGeom>
              <a:avLst/>
              <a:gdLst/>
              <a:ahLst/>
              <a:cxnLst/>
              <a:rect r="r" b="b" t="t" l="l"/>
              <a:pathLst>
                <a:path h="2874918" w="2903337">
                  <a:moveTo>
                    <a:pt x="65410" y="2"/>
                  </a:moveTo>
                  <a:lnTo>
                    <a:pt x="2878279" y="31831"/>
                  </a:lnTo>
                  <a:cubicBezTo>
                    <a:pt x="2892304" y="31989"/>
                    <a:pt x="2903534" y="43509"/>
                    <a:pt x="2903334" y="57535"/>
                  </a:cubicBezTo>
                  <a:lnTo>
                    <a:pt x="2863557" y="2849935"/>
                  </a:lnTo>
                  <a:cubicBezTo>
                    <a:pt x="2863356" y="2863986"/>
                    <a:pt x="2851762" y="2875193"/>
                    <a:pt x="2837712" y="2874913"/>
                  </a:cubicBezTo>
                  <a:lnTo>
                    <a:pt x="24844" y="2819214"/>
                  </a:lnTo>
                  <a:cubicBezTo>
                    <a:pt x="10903" y="2818938"/>
                    <a:pt x="-197" y="2807452"/>
                    <a:pt x="3" y="2793509"/>
                  </a:cubicBezTo>
                  <a:lnTo>
                    <a:pt x="39780" y="24980"/>
                  </a:lnTo>
                  <a:cubicBezTo>
                    <a:pt x="39982" y="11015"/>
                    <a:pt x="51444" y="-156"/>
                    <a:pt x="65410" y="2"/>
                  </a:cubicBezTo>
                  <a:close/>
                </a:path>
              </a:pathLst>
            </a:custGeom>
            <a:blipFill>
              <a:blip r:embed="rId9"/>
              <a:stretch>
                <a:fillRect l="-11174" t="0" r="-1117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2700000">
            <a:off x="16653201" y="6218672"/>
            <a:ext cx="2094810" cy="6079256"/>
          </a:xfrm>
          <a:custGeom>
            <a:avLst/>
            <a:gdLst/>
            <a:ahLst/>
            <a:cxnLst/>
            <a:rect r="r" b="b" t="t" l="l"/>
            <a:pathLst>
              <a:path h="6079256" w="2094810">
                <a:moveTo>
                  <a:pt x="0" y="0"/>
                </a:moveTo>
                <a:lnTo>
                  <a:pt x="2094810" y="0"/>
                </a:lnTo>
                <a:lnTo>
                  <a:pt x="2094810" y="6079256"/>
                </a:lnTo>
                <a:lnTo>
                  <a:pt x="0" y="60792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55077">
            <a:off x="9982684" y="-111186"/>
            <a:ext cx="1475462" cy="1609344"/>
          </a:xfrm>
          <a:custGeom>
            <a:avLst/>
            <a:gdLst/>
            <a:ahLst/>
            <a:cxnLst/>
            <a:rect r="r" b="b" t="t" l="l"/>
            <a:pathLst>
              <a:path h="1609344" w="1475462">
                <a:moveTo>
                  <a:pt x="0" y="0"/>
                </a:moveTo>
                <a:lnTo>
                  <a:pt x="1475461" y="0"/>
                </a:lnTo>
                <a:lnTo>
                  <a:pt x="1475461" y="1609343"/>
                </a:lnTo>
                <a:lnTo>
                  <a:pt x="0" y="16093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175168" b="-150385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021164" y="265984"/>
            <a:ext cx="452773" cy="427501"/>
          </a:xfrm>
          <a:custGeom>
            <a:avLst/>
            <a:gdLst/>
            <a:ahLst/>
            <a:cxnLst/>
            <a:rect r="r" b="b" t="t" l="l"/>
            <a:pathLst>
              <a:path h="427501" w="452773">
                <a:moveTo>
                  <a:pt x="0" y="0"/>
                </a:moveTo>
                <a:lnTo>
                  <a:pt x="452773" y="0"/>
                </a:lnTo>
                <a:lnTo>
                  <a:pt x="452773" y="427502"/>
                </a:lnTo>
                <a:lnTo>
                  <a:pt x="0" y="427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429477">
            <a:off x="13124400" y="1661421"/>
            <a:ext cx="5370970" cy="6060175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-93260">
            <a:off x="11218880" y="6639088"/>
            <a:ext cx="3263407" cy="3604315"/>
          </a:xfrm>
          <a:custGeom>
            <a:avLst/>
            <a:gdLst/>
            <a:ahLst/>
            <a:cxnLst/>
            <a:rect r="r" b="b" t="t" l="l"/>
            <a:pathLst>
              <a:path h="3604315" w="3263407">
                <a:moveTo>
                  <a:pt x="0" y="0"/>
                </a:moveTo>
                <a:lnTo>
                  <a:pt x="3263407" y="0"/>
                </a:lnTo>
                <a:lnTo>
                  <a:pt x="3263407" y="3604315"/>
                </a:lnTo>
                <a:lnTo>
                  <a:pt x="0" y="36043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396689" y="4638356"/>
            <a:ext cx="5372350" cy="6061732"/>
          </a:xfrm>
          <a:prstGeom prst="rect">
            <a:avLst/>
          </a:prstGeom>
        </p:spPr>
      </p:pic>
      <p:sp>
        <p:nvSpPr>
          <p:cNvPr name="Freeform 20" id="20"/>
          <p:cNvSpPr/>
          <p:nvPr/>
        </p:nvSpPr>
        <p:spPr>
          <a:xfrm flipH="false" flipV="false" rot="-2307826">
            <a:off x="13479359" y="9515490"/>
            <a:ext cx="1290775" cy="580533"/>
          </a:xfrm>
          <a:custGeom>
            <a:avLst/>
            <a:gdLst/>
            <a:ahLst/>
            <a:cxnLst/>
            <a:rect r="r" b="b" t="t" l="l"/>
            <a:pathLst>
              <a:path h="580533" w="1290775">
                <a:moveTo>
                  <a:pt x="0" y="0"/>
                </a:moveTo>
                <a:lnTo>
                  <a:pt x="1290775" y="0"/>
                </a:lnTo>
                <a:lnTo>
                  <a:pt x="1290775" y="580533"/>
                </a:lnTo>
                <a:lnTo>
                  <a:pt x="0" y="58053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-190500" y="2889742"/>
            <a:ext cx="8808606" cy="609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122" indent="-299561" lvl="1">
              <a:lnSpc>
                <a:spcPts val="3607"/>
              </a:lnSpc>
              <a:buFont typeface="Arial"/>
              <a:buChar char="•"/>
            </a:pPr>
            <a:r>
              <a:rPr lang="en-US" sz="2775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Price Distribution: Right-skewed, heavily concentrated in the 1-10 billion VND segment.</a:t>
            </a:r>
          </a:p>
          <a:p>
            <a:pPr algn="l">
              <a:lnSpc>
                <a:spcPts val="3607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Regional Differences: HCMC &amp; Hanoi command the highest prices; Da Nang &amp; Binh Duong are more stable.</a:t>
            </a:r>
          </a:p>
          <a:p>
            <a:pPr algn="l">
              <a:lnSpc>
                <a:spcPts val="3900"/>
              </a:lnSpc>
            </a:pPr>
          </a:p>
          <a:p>
            <a:pPr algn="l" marL="599122" indent="-299561" lvl="1">
              <a:lnSpc>
                <a:spcPts val="3607"/>
              </a:lnSpc>
              <a:buFont typeface="Arial"/>
              <a:buChar char="•"/>
            </a:pPr>
            <a:r>
              <a:rPr lang="en-US" sz="2775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Key Correlations:</a:t>
            </a:r>
          </a:p>
          <a:p>
            <a:pPr algn="l" marL="1198245" indent="-399415" lvl="2">
              <a:lnSpc>
                <a:spcPts val="3607"/>
              </a:lnSpc>
              <a:buFont typeface="Arial"/>
              <a:buChar char="⚬"/>
            </a:pPr>
            <a:r>
              <a:rPr lang="en-US" sz="2775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Positive correlation between Area and Asset Value.</a:t>
            </a:r>
          </a:p>
          <a:p>
            <a:pPr algn="l" marL="1198245" indent="-399415" lvl="2">
              <a:lnSpc>
                <a:spcPts val="3607"/>
              </a:lnSpc>
              <a:buFont typeface="Arial"/>
              <a:buChar char="⚬"/>
            </a:pPr>
            <a:r>
              <a:rPr lang="en-US" sz="2775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Extremely strong correlation (0.80) between utility infrastructure (schools/hospitals) and property presence.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479735"/>
            <a:ext cx="6554817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759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EX</a:t>
            </a: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PLORATORY DATA ANALYSIS (EDA) &amp; STATISTICS</a:t>
            </a:r>
          </a:p>
        </p:txBody>
      </p: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D0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507521" y="-81666"/>
            <a:ext cx="5939458" cy="11049000"/>
          </a:xfrm>
          <a:custGeom>
            <a:avLst/>
            <a:gdLst/>
            <a:ahLst/>
            <a:cxnLst/>
            <a:rect r="r" b="b" t="t" l="l"/>
            <a:pathLst>
              <a:path h="11049000" w="5939458">
                <a:moveTo>
                  <a:pt x="0" y="0"/>
                </a:moveTo>
                <a:lnTo>
                  <a:pt x="5939458" y="0"/>
                </a:lnTo>
                <a:lnTo>
                  <a:pt x="5939458" y="11049000"/>
                </a:lnTo>
                <a:lnTo>
                  <a:pt x="0" y="1104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246" t="-7489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00500" y="2932235"/>
            <a:ext cx="8811928" cy="4851932"/>
            <a:chOff x="0" y="0"/>
            <a:chExt cx="2320837" cy="1277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837" cy="1277875"/>
            </a:xfrm>
            <a:custGeom>
              <a:avLst/>
              <a:gdLst/>
              <a:ahLst/>
              <a:cxnLst/>
              <a:rect r="r" b="b" t="t" l="l"/>
              <a:pathLst>
                <a:path h="1277875" w="2320837">
                  <a:moveTo>
                    <a:pt x="0" y="0"/>
                  </a:moveTo>
                  <a:lnTo>
                    <a:pt x="2320837" y="0"/>
                  </a:lnTo>
                  <a:lnTo>
                    <a:pt x="2320837" y="1277875"/>
                  </a:lnTo>
                  <a:lnTo>
                    <a:pt x="0" y="1277875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320837" cy="123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39330" y="6204425"/>
            <a:ext cx="2295920" cy="2650413"/>
          </a:xfrm>
          <a:custGeom>
            <a:avLst/>
            <a:gdLst/>
            <a:ahLst/>
            <a:cxnLst/>
            <a:rect r="r" b="b" t="t" l="l"/>
            <a:pathLst>
              <a:path h="2650413" w="2295920">
                <a:moveTo>
                  <a:pt x="0" y="0"/>
                </a:moveTo>
                <a:lnTo>
                  <a:pt x="2295920" y="0"/>
                </a:lnTo>
                <a:lnTo>
                  <a:pt x="2295920" y="2650413"/>
                </a:lnTo>
                <a:lnTo>
                  <a:pt x="0" y="2650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67000" y="857250"/>
            <a:ext cx="12954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MODELLING / REGRESSION ANALYSIS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9122583">
            <a:off x="13512051" y="9517430"/>
            <a:ext cx="749253" cy="326751"/>
          </a:xfrm>
          <a:custGeom>
            <a:avLst/>
            <a:gdLst/>
            <a:ahLst/>
            <a:cxnLst/>
            <a:rect r="r" b="b" t="t" l="l"/>
            <a:pathLst>
              <a:path h="326751" w="749253">
                <a:moveTo>
                  <a:pt x="0" y="0"/>
                </a:moveTo>
                <a:lnTo>
                  <a:pt x="749253" y="0"/>
                </a:lnTo>
                <a:lnTo>
                  <a:pt x="749253" y="326751"/>
                </a:lnTo>
                <a:lnTo>
                  <a:pt x="0" y="326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16537" y="3204050"/>
            <a:ext cx="8695891" cy="448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Preprocessing Pipeline: Missing value imputation, One-Hot Encoding, StandardScaler (80:20 Train/Test split).</a:t>
            </a:r>
          </a:p>
          <a:p>
            <a:pPr algn="l">
              <a:lnSpc>
                <a:spcPts val="2999"/>
              </a:lnSpc>
            </a:pPr>
          </a:p>
          <a:p>
            <a:pPr algn="l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Initial Linear Analysis (Ridge Regression):</a:t>
            </a:r>
          </a:p>
          <a:p>
            <a:pPr algn="l" marL="1295394" indent="-431798" lvl="2">
              <a:lnSpc>
                <a:spcPts val="29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 Confirmed distinct market trends (Central districts and Villas have huge positive weights).</a:t>
            </a:r>
          </a:p>
          <a:p>
            <a:pPr algn="l" marL="1295394" indent="-431798" lvl="2">
              <a:lnSpc>
                <a:spcPts val="29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  Accuracy limitation: R-squared only reached 0.57 due to complex non-linear relationships.</a:t>
            </a:r>
          </a:p>
          <a:p>
            <a:pPr algn="l">
              <a:lnSpc>
                <a:spcPts val="2999"/>
              </a:lnSpc>
            </a:pPr>
          </a:p>
          <a:p>
            <a:pPr algn="l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ML Experimentation: Evaluated 15 different Machine Learning algorithms to capture non-linear market patterns.</a:t>
            </a: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B8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32772">
            <a:off x="13001571" y="4643029"/>
            <a:ext cx="4963793" cy="5482330"/>
          </a:xfrm>
          <a:custGeom>
            <a:avLst/>
            <a:gdLst/>
            <a:ahLst/>
            <a:cxnLst/>
            <a:rect r="r" b="b" t="t" l="l"/>
            <a:pathLst>
              <a:path h="5482330" w="4963793">
                <a:moveTo>
                  <a:pt x="0" y="0"/>
                </a:moveTo>
                <a:lnTo>
                  <a:pt x="4963793" y="0"/>
                </a:lnTo>
                <a:lnTo>
                  <a:pt x="4963793" y="5482330"/>
                </a:lnTo>
                <a:lnTo>
                  <a:pt x="0" y="5482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3500" y="1000125"/>
            <a:ext cx="10287000" cy="8286750"/>
            <a:chOff x="0" y="0"/>
            <a:chExt cx="2709333" cy="21825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2182519"/>
            </a:xfrm>
            <a:custGeom>
              <a:avLst/>
              <a:gdLst/>
              <a:ahLst/>
              <a:cxnLst/>
              <a:rect r="r" b="b" t="t" l="l"/>
              <a:pathLst>
                <a:path h="218251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182519"/>
                  </a:lnTo>
                  <a:lnTo>
                    <a:pt x="0" y="2182519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709333" cy="220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404133">
            <a:off x="11635754" y="859281"/>
            <a:ext cx="6170849" cy="8731335"/>
          </a:xfrm>
          <a:custGeom>
            <a:avLst/>
            <a:gdLst/>
            <a:ahLst/>
            <a:cxnLst/>
            <a:rect r="r" b="b" t="t" l="l"/>
            <a:pathLst>
              <a:path h="8731335" w="6170849">
                <a:moveTo>
                  <a:pt x="0" y="0"/>
                </a:moveTo>
                <a:lnTo>
                  <a:pt x="6170849" y="0"/>
                </a:lnTo>
                <a:lnTo>
                  <a:pt x="6170849" y="8731335"/>
                </a:lnTo>
                <a:lnTo>
                  <a:pt x="0" y="8731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4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63764">
            <a:off x="15328914" y="1538055"/>
            <a:ext cx="1545405" cy="205117"/>
          </a:xfrm>
          <a:custGeom>
            <a:avLst/>
            <a:gdLst/>
            <a:ahLst/>
            <a:cxnLst/>
            <a:rect r="r" b="b" t="t" l="l"/>
            <a:pathLst>
              <a:path h="205117" w="1545405">
                <a:moveTo>
                  <a:pt x="0" y="0"/>
                </a:moveTo>
                <a:lnTo>
                  <a:pt x="1545405" y="0"/>
                </a:lnTo>
                <a:lnTo>
                  <a:pt x="1545405" y="205117"/>
                </a:lnTo>
                <a:lnTo>
                  <a:pt x="0" y="20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443999">
            <a:off x="10651274" y="7238462"/>
            <a:ext cx="1330188" cy="1430310"/>
          </a:xfrm>
          <a:custGeom>
            <a:avLst/>
            <a:gdLst/>
            <a:ahLst/>
            <a:cxnLst/>
            <a:rect r="r" b="b" t="t" l="l"/>
            <a:pathLst>
              <a:path h="1430310" w="1330188">
                <a:moveTo>
                  <a:pt x="0" y="0"/>
                </a:moveTo>
                <a:lnTo>
                  <a:pt x="1330189" y="0"/>
                </a:lnTo>
                <a:lnTo>
                  <a:pt x="1330189" y="1430310"/>
                </a:lnTo>
                <a:lnTo>
                  <a:pt x="0" y="1430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133905">
            <a:off x="15134095" y="7377218"/>
            <a:ext cx="639700" cy="2531188"/>
          </a:xfrm>
          <a:custGeom>
            <a:avLst/>
            <a:gdLst/>
            <a:ahLst/>
            <a:cxnLst/>
            <a:rect r="r" b="b" t="t" l="l"/>
            <a:pathLst>
              <a:path h="2531188" w="639700">
                <a:moveTo>
                  <a:pt x="0" y="0"/>
                </a:moveTo>
                <a:lnTo>
                  <a:pt x="639701" y="0"/>
                </a:lnTo>
                <a:lnTo>
                  <a:pt x="639701" y="2531188"/>
                </a:lnTo>
                <a:lnTo>
                  <a:pt x="0" y="25311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67425" y="646915"/>
            <a:ext cx="819150" cy="819150"/>
          </a:xfrm>
          <a:custGeom>
            <a:avLst/>
            <a:gdLst/>
            <a:ahLst/>
            <a:cxnLst/>
            <a:rect r="r" b="b" t="t" l="l"/>
            <a:pathLst>
              <a:path h="819150" w="819150">
                <a:moveTo>
                  <a:pt x="0" y="0"/>
                </a:moveTo>
                <a:lnTo>
                  <a:pt x="819150" y="0"/>
                </a:lnTo>
                <a:lnTo>
                  <a:pt x="8191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49174" y="2960183"/>
            <a:ext cx="8146532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The Best Model: Extra Trees (Extremely Randomized Trees)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Performance: Highest R-squared score (0.84) and lowest error rates.</a:t>
            </a:r>
          </a:p>
          <a:p>
            <a:pPr algn="l">
              <a:lnSpc>
                <a:spcPts val="3899"/>
              </a:lnSpc>
            </a:pPr>
          </a:p>
          <a:p>
            <a:pPr algn="l" marL="647698" indent="-323849" lvl="1">
              <a:lnSpc>
                <a:spcPts val="38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Practical Deployment: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Built an interactive </a:t>
            </a:r>
            <a:r>
              <a:rPr lang="en-US" sz="2999" u="sng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  <a:hlinkClick r:id="rId10" tooltip="https://huy-real-estate-prediction.streamlit.app"/>
              </a:rPr>
              <a:t>Streamlit Web App.</a:t>
            </a:r>
          </a:p>
          <a:p>
            <a:pPr algn="l" marL="1295397" indent="-431799" lvl="2">
              <a:lnSpc>
                <a:spcPts val="38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Users click a location on a Folium map -&gt; API fetches live amenity data -&gt; Extra Trees model instantly predicts the price.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331892">
            <a:off x="9994531" y="118034"/>
            <a:ext cx="9108340" cy="8517521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333500" y="1192374"/>
            <a:ext cx="6824692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240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KEY RESUL</a:t>
            </a:r>
            <a:r>
              <a:rPr lang="en-US" b="true" sz="4800" strike="noStrike" u="none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TS &amp; VISUALIZATIONS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D0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733076" y="-307221"/>
            <a:ext cx="6463840" cy="12024492"/>
          </a:xfrm>
          <a:custGeom>
            <a:avLst/>
            <a:gdLst/>
            <a:ahLst/>
            <a:cxnLst/>
            <a:rect r="r" b="b" t="t" l="l"/>
            <a:pathLst>
              <a:path h="12024492" w="6463840">
                <a:moveTo>
                  <a:pt x="0" y="0"/>
                </a:moveTo>
                <a:lnTo>
                  <a:pt x="6463840" y="0"/>
                </a:lnTo>
                <a:lnTo>
                  <a:pt x="6463840" y="12024492"/>
                </a:lnTo>
                <a:lnTo>
                  <a:pt x="0" y="12024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246" t="-7489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93004" y="2972771"/>
            <a:ext cx="9589914" cy="5280298"/>
            <a:chOff x="0" y="0"/>
            <a:chExt cx="2320837" cy="1277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837" cy="1277875"/>
            </a:xfrm>
            <a:custGeom>
              <a:avLst/>
              <a:gdLst/>
              <a:ahLst/>
              <a:cxnLst/>
              <a:rect r="r" b="b" t="t" l="l"/>
              <a:pathLst>
                <a:path h="1277875" w="2320837">
                  <a:moveTo>
                    <a:pt x="0" y="0"/>
                  </a:moveTo>
                  <a:lnTo>
                    <a:pt x="2320837" y="0"/>
                  </a:lnTo>
                  <a:lnTo>
                    <a:pt x="2320837" y="1277875"/>
                  </a:lnTo>
                  <a:lnTo>
                    <a:pt x="0" y="1277875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320837" cy="1230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929852" y="6533855"/>
            <a:ext cx="2498622" cy="2884412"/>
          </a:xfrm>
          <a:custGeom>
            <a:avLst/>
            <a:gdLst/>
            <a:ahLst/>
            <a:cxnLst/>
            <a:rect r="r" b="b" t="t" l="l"/>
            <a:pathLst>
              <a:path h="2884412" w="2498622">
                <a:moveTo>
                  <a:pt x="0" y="0"/>
                </a:moveTo>
                <a:lnTo>
                  <a:pt x="2498622" y="0"/>
                </a:lnTo>
                <a:lnTo>
                  <a:pt x="2498622" y="2884412"/>
                </a:lnTo>
                <a:lnTo>
                  <a:pt x="0" y="288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67000" y="857250"/>
            <a:ext cx="12954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DISCUSSION, LIMITATIONS, AND INSIGHTS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9122583">
            <a:off x="13512051" y="9517430"/>
            <a:ext cx="749253" cy="326751"/>
          </a:xfrm>
          <a:custGeom>
            <a:avLst/>
            <a:gdLst/>
            <a:ahLst/>
            <a:cxnLst/>
            <a:rect r="r" b="b" t="t" l="l"/>
            <a:pathLst>
              <a:path h="326751" w="749253">
                <a:moveTo>
                  <a:pt x="0" y="0"/>
                </a:moveTo>
                <a:lnTo>
                  <a:pt x="749253" y="0"/>
                </a:lnTo>
                <a:lnTo>
                  <a:pt x="749253" y="326751"/>
                </a:lnTo>
                <a:lnTo>
                  <a:pt x="0" y="326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93004" y="3118311"/>
            <a:ext cx="8695891" cy="485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Insights: </a:t>
            </a: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Successfully quantified the immense financial value of urban infrastructure and external amenities.</a:t>
            </a:r>
          </a:p>
          <a:p>
            <a:pPr algn="l">
              <a:lnSpc>
                <a:spcPts val="2999"/>
              </a:lnSpc>
            </a:pPr>
          </a:p>
          <a:p>
            <a:pPr algn="l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Limitations:</a:t>
            </a:r>
          </a:p>
          <a:p>
            <a:pPr algn="l" marL="1295394" indent="-431798" lvl="2">
              <a:lnSpc>
                <a:spcPts val="29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Model trains on 'Asking Prices', which may differ from final transaction contracts.</a:t>
            </a:r>
          </a:p>
          <a:p>
            <a:pPr algn="l" marL="1295394" indent="-431798" lvl="2">
              <a:lnSpc>
                <a:spcPts val="2999"/>
              </a:lnSpc>
              <a:buFont typeface="Arial"/>
              <a:buChar char="⚬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Lacks 'soft' variables (interior quality, Feng Shui, developer reputation).</a:t>
            </a:r>
          </a:p>
          <a:p>
            <a:pPr algn="l">
              <a:lnSpc>
                <a:spcPts val="2999"/>
              </a:lnSpc>
            </a:pPr>
          </a:p>
          <a:p>
            <a:pPr algn="l" marL="647697" indent="-323848" lvl="1">
              <a:lnSpc>
                <a:spcPts val="2999"/>
              </a:lnSpc>
              <a:buFont typeface="Arial"/>
              <a:buChar char="•"/>
            </a:pPr>
            <a:r>
              <a:rPr lang="en-US" sz="2999">
                <a:solidFill>
                  <a:srgbClr val="000001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Future Work: Implement Natural Language Processing (NLP) to read and extract sentiment/details from listing text descriptions.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8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6743" y="2934625"/>
            <a:ext cx="1508230" cy="1798188"/>
          </a:xfrm>
          <a:custGeom>
            <a:avLst/>
            <a:gdLst/>
            <a:ahLst/>
            <a:cxnLst/>
            <a:rect r="r" b="b" t="t" l="l"/>
            <a:pathLst>
              <a:path h="1798188" w="1508230">
                <a:moveTo>
                  <a:pt x="0" y="0"/>
                </a:moveTo>
                <a:lnTo>
                  <a:pt x="1508230" y="0"/>
                </a:lnTo>
                <a:lnTo>
                  <a:pt x="1508230" y="1798187"/>
                </a:lnTo>
                <a:lnTo>
                  <a:pt x="0" y="1798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610459">
            <a:off x="10357396" y="1774996"/>
            <a:ext cx="4376204" cy="4937760"/>
          </a:xfrm>
          <a:prstGeom prst="rect">
            <a:avLst/>
          </a:prstGeom>
        </p:spPr>
      </p:pic>
      <p:grpSp>
        <p:nvGrpSpPr>
          <p:cNvPr name="Group 4" id="4"/>
          <p:cNvGrpSpPr>
            <a:grpSpLocks noChangeAspect="true"/>
          </p:cNvGrpSpPr>
          <p:nvPr/>
        </p:nvGrpSpPr>
        <p:grpSpPr>
          <a:xfrm rot="-428855">
            <a:off x="13131099" y="5335893"/>
            <a:ext cx="3053020" cy="3050161"/>
            <a:chOff x="0" y="0"/>
            <a:chExt cx="3255264" cy="3252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55264" cy="3252216"/>
            </a:xfrm>
            <a:custGeom>
              <a:avLst/>
              <a:gdLst/>
              <a:ahLst/>
              <a:cxnLst/>
              <a:rect r="r" b="b" t="t" l="l"/>
              <a:pathLst>
                <a:path h="3252216" w="3255264">
                  <a:moveTo>
                    <a:pt x="3255264" y="3252216"/>
                  </a:moveTo>
                  <a:lnTo>
                    <a:pt x="0" y="3252216"/>
                  </a:lnTo>
                  <a:lnTo>
                    <a:pt x="0" y="0"/>
                  </a:lnTo>
                  <a:lnTo>
                    <a:pt x="3255264" y="0"/>
                  </a:lnTo>
                  <a:lnTo>
                    <a:pt x="3255264" y="3252216"/>
                  </a:lnTo>
                  <a:close/>
                </a:path>
              </a:pathLst>
            </a:custGeom>
            <a:blipFill>
              <a:blip r:embed="rId5"/>
              <a:stretch>
                <a:fillRect l="-15" t="0" r="-1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8981" y="170596"/>
              <a:ext cx="2903337" cy="2874918"/>
            </a:xfrm>
            <a:custGeom>
              <a:avLst/>
              <a:gdLst/>
              <a:ahLst/>
              <a:cxnLst/>
              <a:rect r="r" b="b" t="t" l="l"/>
              <a:pathLst>
                <a:path h="2874918" w="2903337">
                  <a:moveTo>
                    <a:pt x="65410" y="2"/>
                  </a:moveTo>
                  <a:lnTo>
                    <a:pt x="2878279" y="31831"/>
                  </a:lnTo>
                  <a:cubicBezTo>
                    <a:pt x="2892304" y="31989"/>
                    <a:pt x="2903534" y="43509"/>
                    <a:pt x="2903334" y="57535"/>
                  </a:cubicBezTo>
                  <a:lnTo>
                    <a:pt x="2863557" y="2849935"/>
                  </a:lnTo>
                  <a:cubicBezTo>
                    <a:pt x="2863356" y="2863986"/>
                    <a:pt x="2851762" y="2875193"/>
                    <a:pt x="2837712" y="2874913"/>
                  </a:cubicBezTo>
                  <a:lnTo>
                    <a:pt x="24844" y="2819214"/>
                  </a:lnTo>
                  <a:cubicBezTo>
                    <a:pt x="10903" y="2818938"/>
                    <a:pt x="-197" y="2807452"/>
                    <a:pt x="3" y="2793509"/>
                  </a:cubicBezTo>
                  <a:lnTo>
                    <a:pt x="39780" y="24980"/>
                  </a:lnTo>
                  <a:cubicBezTo>
                    <a:pt x="39982" y="11015"/>
                    <a:pt x="51444" y="-156"/>
                    <a:pt x="65410" y="2"/>
                  </a:cubicBezTo>
                  <a:close/>
                </a:path>
              </a:pathLst>
            </a:custGeom>
            <a:blipFill>
              <a:blip r:embed="rId6"/>
              <a:stretch>
                <a:fillRect l="0" t="-12492" r="0" b="-1249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314407">
            <a:off x="11041344" y="7422600"/>
            <a:ext cx="2032565" cy="358470"/>
          </a:xfrm>
          <a:custGeom>
            <a:avLst/>
            <a:gdLst/>
            <a:ahLst/>
            <a:cxnLst/>
            <a:rect r="r" b="b" t="t" l="l"/>
            <a:pathLst>
              <a:path h="358470" w="2032565">
                <a:moveTo>
                  <a:pt x="0" y="0"/>
                </a:moveTo>
                <a:lnTo>
                  <a:pt x="2032564" y="0"/>
                </a:lnTo>
                <a:lnTo>
                  <a:pt x="2032564" y="358470"/>
                </a:lnTo>
                <a:lnTo>
                  <a:pt x="0" y="358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5400000">
            <a:off x="4295293" y="6265677"/>
            <a:ext cx="5921117" cy="4339003"/>
          </a:xfrm>
          <a:custGeom>
            <a:avLst/>
            <a:gdLst/>
            <a:ahLst/>
            <a:cxnLst/>
            <a:rect r="r" b="b" t="t" l="l"/>
            <a:pathLst>
              <a:path h="4339003" w="5921117">
                <a:moveTo>
                  <a:pt x="0" y="0"/>
                </a:moveTo>
                <a:lnTo>
                  <a:pt x="5921117" y="0"/>
                </a:lnTo>
                <a:lnTo>
                  <a:pt x="5921117" y="4339003"/>
                </a:lnTo>
                <a:lnTo>
                  <a:pt x="0" y="43390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8274" t="0" r="-6978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413583" y="2944237"/>
            <a:ext cx="11727035" cy="4339003"/>
          </a:xfrm>
          <a:custGeom>
            <a:avLst/>
            <a:gdLst/>
            <a:ahLst/>
            <a:cxnLst/>
            <a:rect r="r" b="b" t="t" l="l"/>
            <a:pathLst>
              <a:path h="4339003" w="11727035">
                <a:moveTo>
                  <a:pt x="0" y="0"/>
                </a:moveTo>
                <a:lnTo>
                  <a:pt x="11727034" y="0"/>
                </a:lnTo>
                <a:lnTo>
                  <a:pt x="11727034" y="4339002"/>
                </a:lnTo>
                <a:lnTo>
                  <a:pt x="0" y="43390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90500" y="-190500"/>
            <a:ext cx="9144000" cy="10668000"/>
            <a:chOff x="0" y="0"/>
            <a:chExt cx="2408296" cy="28096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8296" cy="2809679"/>
            </a:xfrm>
            <a:custGeom>
              <a:avLst/>
              <a:gdLst/>
              <a:ahLst/>
              <a:cxnLst/>
              <a:rect r="r" b="b" t="t" l="l"/>
              <a:pathLst>
                <a:path h="280967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809679"/>
                  </a:lnTo>
                  <a:lnTo>
                    <a:pt x="0" y="2809679"/>
                  </a:lnTo>
                  <a:close/>
                </a:path>
              </a:pathLst>
            </a:custGeom>
            <a:solidFill>
              <a:srgbClr val="FFFCF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08296" cy="282872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-190500" y="98361"/>
            <a:ext cx="6286500" cy="156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240"/>
              </a:lnSpc>
              <a:buAutoNum type="arabicPeriod" startAt="1"/>
            </a:pP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CONCLUSION &amp;</a:t>
            </a:r>
            <a:r>
              <a:rPr lang="en-US" b="true" sz="4800">
                <a:solidFill>
                  <a:srgbClr val="000001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AI USAGE REFLECTION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1857375"/>
            <a:ext cx="8010988" cy="842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Conclusion: Successfull</a:t>
            </a: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y completed a full Data Science lifecycle resulting in a highly accurate ML model and a practical </a:t>
            </a:r>
            <a:r>
              <a:rPr lang="en-US" sz="3000" strike="noStrik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Web App</a:t>
            </a: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 tool. </a:t>
            </a:r>
          </a:p>
          <a:p>
            <a:pPr algn="l">
              <a:lnSpc>
                <a:spcPts val="3900"/>
              </a:lnSpc>
            </a:pPr>
          </a:p>
          <a:p>
            <a:pPr algn="l" marL="647700" indent="-323850" lvl="1">
              <a:lnSpc>
                <a:spcPts val="39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AI Usage Reflection (Gemini &amp; ChatGPT):</a:t>
            </a:r>
          </a:p>
          <a:p>
            <a:pPr algn="l" marL="1295400" indent="-431800" lvl="2">
              <a:lnSpc>
                <a:spcPts val="3900"/>
              </a:lnSpc>
              <a:buFont typeface="Arial"/>
              <a:buChar char="⚬"/>
            </a:pP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Used for project ideation, research framing, and deciding on data features.</a:t>
            </a:r>
          </a:p>
          <a:p>
            <a:pPr algn="l" marL="1295400" indent="-431800" lvl="2">
              <a:lnSpc>
                <a:spcPts val="3900"/>
              </a:lnSpc>
              <a:buFont typeface="Arial"/>
              <a:buChar char="⚬"/>
            </a:pP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Assisted heavily in technical debugging: SQL data cleaning, Python EDA charts, and ML model tuning.</a:t>
            </a:r>
          </a:p>
          <a:p>
            <a:pPr algn="l" marL="1295400" indent="-431800" lvl="2">
              <a:lnSpc>
                <a:spcPts val="3900"/>
              </a:lnSpc>
              <a:buFont typeface="Arial"/>
              <a:buChar char="⚬"/>
            </a:pP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Supported report formatting (LaTeX) and Dashboard layout generation.</a:t>
            </a:r>
          </a:p>
          <a:p>
            <a:pPr algn="l" marL="1295400" indent="-431800" lvl="2">
              <a:lnSpc>
                <a:spcPts val="3900"/>
              </a:lnSpc>
              <a:buFont typeface="Arial"/>
              <a:buChar char="⚬"/>
            </a:pPr>
            <a:r>
              <a:rPr lang="en-US" sz="3000" strike="noStrike" u="none">
                <a:solidFill>
                  <a:srgbClr val="000001"/>
                </a:solidFill>
                <a:latin typeface="Public Sans"/>
                <a:ea typeface="Public Sans"/>
                <a:cs typeface="Public Sans"/>
                <a:sym typeface="Public Sans"/>
              </a:rPr>
              <a:t>Accelerated learning and optimized project quality.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DAHEgEvBmCU</dc:identifier>
  <dcterms:modified xsi:type="dcterms:W3CDTF">2011-08-01T06:04:30Z</dcterms:modified>
  <cp:revision>1</cp:revision>
  <dc:title>Real Estate Price Analysis Slide</dc:title>
</cp:coreProperties>
</file>